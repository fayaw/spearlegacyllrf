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309" r:id="rId5"/>
    <p:sldId id="328" r:id="rId6"/>
    <p:sldId id="311" r:id="rId7"/>
    <p:sldId id="314" r:id="rId8"/>
    <p:sldId id="319" r:id="rId9"/>
    <p:sldId id="318" r:id="rId10"/>
    <p:sldId id="336" r:id="rId11"/>
    <p:sldId id="312" r:id="rId12"/>
    <p:sldId id="335" r:id="rId13"/>
    <p:sldId id="313" r:id="rId14"/>
    <p:sldId id="334" r:id="rId15"/>
    <p:sldId id="315" r:id="rId16"/>
    <p:sldId id="316" r:id="rId17"/>
    <p:sldId id="310" r:id="rId18"/>
    <p:sldId id="320" r:id="rId19"/>
    <p:sldId id="322" r:id="rId20"/>
    <p:sldId id="323" r:id="rId21"/>
    <p:sldId id="324" r:id="rId22"/>
    <p:sldId id="325" r:id="rId23"/>
    <p:sldId id="326" r:id="rId24"/>
    <p:sldId id="330" r:id="rId25"/>
    <p:sldId id="331" r:id="rId26"/>
    <p:sldId id="332" r:id="rId27"/>
    <p:sldId id="333" r:id="rId28"/>
  </p:sldIdLst>
  <p:sldSz cx="9144000" cy="6858000" type="screen4x3"/>
  <p:notesSz cx="92964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92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7FEA37-D950-4EBE-B4F2-A5AF6AF1BA4C}" v="1" dt="2026-04-07T19:23:01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29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, Faya" userId="4e29d18d-b833-4cc8-a414-884259148607" providerId="ADAL" clId="{5EB190AF-59CA-4785-AE4E-41CA77A452D6}"/>
    <pc:docChg chg="modSld">
      <pc:chgData name="Wang, Faya" userId="4e29d18d-b833-4cc8-a414-884259148607" providerId="ADAL" clId="{5EB190AF-59CA-4785-AE4E-41CA77A452D6}" dt="2026-04-07T19:23:01.106" v="2" actId="5736"/>
      <pc:docMkLst>
        <pc:docMk/>
      </pc:docMkLst>
      <pc:sldChg chg="modSp mod">
        <pc:chgData name="Wang, Faya" userId="4e29d18d-b833-4cc8-a414-884259148607" providerId="ADAL" clId="{5EB190AF-59CA-4785-AE4E-41CA77A452D6}" dt="2026-04-07T19:23:01.106" v="2" actId="5736"/>
        <pc:sldMkLst>
          <pc:docMk/>
          <pc:sldMk cId="0" sldId="314"/>
        </pc:sldMkLst>
        <pc:graphicFrameChg chg="mod">
          <ac:chgData name="Wang, Faya" userId="4e29d18d-b833-4cc8-a414-884259148607" providerId="ADAL" clId="{5EB190AF-59CA-4785-AE4E-41CA77A452D6}" dt="2026-04-07T19:23:01.106" v="2" actId="5736"/>
          <ac:graphicFrameMkLst>
            <pc:docMk/>
            <pc:sldMk cId="0" sldId="314"/>
            <ac:graphicFrameMk id="213002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488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974" tIns="45487" rIns="90974" bIns="45487" numCol="1" anchor="t" anchorCtr="0" compatLnSpc="1">
            <a:prstTxWarp prst="textNoShape">
              <a:avLst/>
            </a:prstTxWarp>
          </a:bodyPr>
          <a:lstStyle>
            <a:lvl1pPr defTabSz="909638">
              <a:defRPr sz="1200"/>
            </a:lvl1pPr>
          </a:lstStyle>
          <a:p>
            <a:endParaRPr lang="en-US" altLang="en-US"/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8913" y="0"/>
            <a:ext cx="4027487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974" tIns="45487" rIns="90974" bIns="45487" numCol="1" anchor="t" anchorCtr="0" compatLnSpc="1">
            <a:prstTxWarp prst="textNoShape">
              <a:avLst/>
            </a:prstTxWarp>
          </a:bodyPr>
          <a:lstStyle>
            <a:lvl1pPr algn="r" defTabSz="909638">
              <a:defRPr sz="1200"/>
            </a:lvl1pPr>
          </a:lstStyle>
          <a:p>
            <a:r>
              <a:rPr lang="en-US" altLang="en-US"/>
              <a:t>11/98</a:t>
            </a:r>
          </a:p>
        </p:txBody>
      </p:sp>
      <p:sp>
        <p:nvSpPr>
          <p:cNvPr id="1085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100"/>
            <a:ext cx="4027488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974" tIns="45487" rIns="90974" bIns="45487" numCol="1" anchor="b" anchorCtr="0" compatLnSpc="1">
            <a:prstTxWarp prst="textNoShape">
              <a:avLst/>
            </a:prstTxWarp>
          </a:bodyPr>
          <a:lstStyle>
            <a:lvl1pPr defTabSz="909638">
              <a:defRPr sz="1200"/>
            </a:lvl1pPr>
          </a:lstStyle>
          <a:p>
            <a:r>
              <a:rPr lang="en-US" altLang="en-US"/>
              <a:t>SLAC Induction Modulator</a:t>
            </a:r>
          </a:p>
        </p:txBody>
      </p:sp>
      <p:sp>
        <p:nvSpPr>
          <p:cNvPr id="1085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8913" y="6515100"/>
            <a:ext cx="4027487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974" tIns="45487" rIns="90974" bIns="45487" numCol="1" anchor="b" anchorCtr="0" compatLnSpc="1">
            <a:prstTxWarp prst="textNoShape">
              <a:avLst/>
            </a:prstTxWarp>
          </a:bodyPr>
          <a:lstStyle>
            <a:lvl1pPr algn="r" defTabSz="909638">
              <a:defRPr sz="1200"/>
            </a:lvl1pPr>
          </a:lstStyle>
          <a:p>
            <a:fld id="{BBCB8CB7-1033-4E38-BD3E-3B31D62845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488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974" tIns="45487" rIns="90974" bIns="45487" numCol="1" anchor="t" anchorCtr="0" compatLnSpc="1">
            <a:prstTxWarp prst="textNoShape">
              <a:avLst/>
            </a:prstTxWarp>
          </a:bodyPr>
          <a:lstStyle>
            <a:lvl1pPr defTabSz="909638">
              <a:defRPr sz="1200"/>
            </a:lvl1pPr>
          </a:lstStyle>
          <a:p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8913" y="0"/>
            <a:ext cx="4027487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974" tIns="45487" rIns="90974" bIns="45487" numCol="1" anchor="t" anchorCtr="0" compatLnSpc="1">
            <a:prstTxWarp prst="textNoShape">
              <a:avLst/>
            </a:prstTxWarp>
          </a:bodyPr>
          <a:lstStyle>
            <a:lvl1pPr algn="r" defTabSz="909638">
              <a:defRPr sz="1200"/>
            </a:lvl1pPr>
          </a:lstStyle>
          <a:p>
            <a:r>
              <a:rPr lang="en-US" altLang="en-US"/>
              <a:t>11/98</a:t>
            </a:r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89250" y="531813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9838" y="3259138"/>
            <a:ext cx="6816725" cy="308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974" tIns="45487" rIns="90974" bIns="454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4027488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974" tIns="45487" rIns="90974" bIns="45487" numCol="1" anchor="b" anchorCtr="0" compatLnSpc="1">
            <a:prstTxWarp prst="textNoShape">
              <a:avLst/>
            </a:prstTxWarp>
          </a:bodyPr>
          <a:lstStyle>
            <a:lvl1pPr defTabSz="909638">
              <a:defRPr sz="1200"/>
            </a:lvl1pPr>
          </a:lstStyle>
          <a:p>
            <a:r>
              <a:rPr lang="en-US" altLang="en-US"/>
              <a:t>SLAC Induction Modulator</a:t>
            </a: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8913" y="6515100"/>
            <a:ext cx="4027487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974" tIns="45487" rIns="90974" bIns="45487" numCol="1" anchor="b" anchorCtr="0" compatLnSpc="1">
            <a:prstTxWarp prst="textNoShape">
              <a:avLst/>
            </a:prstTxWarp>
          </a:bodyPr>
          <a:lstStyle>
            <a:lvl1pPr algn="r" defTabSz="909638">
              <a:defRPr sz="1200"/>
            </a:lvl1pPr>
          </a:lstStyle>
          <a:p>
            <a:fld id="{A8A0C68C-54F3-4E2C-96DB-1010257D940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11/98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SLAC Induction Modulator</a:t>
            </a:r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11/98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SLAC Induction Modulator</a:t>
            </a:r>
          </a:p>
        </p:txBody>
      </p:sp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11/98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SLAC Induction Modulator</a:t>
            </a:r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11/98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SLAC Induction Modulator</a:t>
            </a:r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11/98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SLAC Induction Modulator</a:t>
            </a:r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11/98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SLAC Induction Modulator</a:t>
            </a:r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11/98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SLAC Induction Modulator</a:t>
            </a:r>
          </a:p>
        </p:txBody>
      </p:sp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11/98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SLAC Induction Modulator</a:t>
            </a:r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11/98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SLAC Induction Modulator</a:t>
            </a:r>
          </a:p>
        </p:txBody>
      </p:sp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11/98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SLAC Induction Modulator</a:t>
            </a:r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11/98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SLAC Induction Modulator</a:t>
            </a:r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altLang="en-US"/>
              <a:t>11/98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SLAC Induction Modulator</a:t>
            </a:r>
          </a:p>
        </p:txBody>
      </p:sp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3040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7D864F4-F1EF-4C1C-86E7-760DE26223FA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230405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SLAC Klystron Power Supply</a:t>
            </a:r>
          </a:p>
        </p:txBody>
      </p:sp>
      <p:sp>
        <p:nvSpPr>
          <p:cNvPr id="23040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41B9629A-DC2E-4794-9C4B-78CD2422C6A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0407" name="Rectangle 7"/>
          <p:cNvSpPr>
            <a:spLocks noChangeArrowheads="1"/>
          </p:cNvSpPr>
          <p:nvPr/>
        </p:nvSpPr>
        <p:spPr bwMode="auto">
          <a:xfrm>
            <a:off x="304800" y="304800"/>
            <a:ext cx="8534400" cy="63246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73DF55-D4CA-4A0C-9A5E-214F6E32B689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SLAC Klystron Power Supply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DA6094-CA2B-4E50-A759-B7934752BB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808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B2D177-2C66-4972-B395-F0E4FE7F43C4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SLAC Klystron Power Supply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B577BC-C22F-47EA-87F7-FC3E338322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6460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78574A-73CB-43A0-9D84-3F9DE8013851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SLAC Klystron Power Supply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84DAFE-0BFB-498B-A6AE-AFAA43F602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614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157649-8C4A-4050-8B90-F1706AE028DE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SLAC Klystron Power Supply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6F8F1E-B141-44F7-B7B6-7ECC339B72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3070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A25A491-3A93-4D53-A6F0-24FD7DFC127E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SLAC Klystron Power Supply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C18817-962C-4448-990B-33E45023BE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3005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B8D9480-8DB7-4EB5-A697-B89779DF21E5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SLAC Klystron Power Supply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2A9E5F-FB92-437C-9E2A-29FBA01D32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998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636641-891B-4C1A-A125-5AEA232BFB23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SLAC Klystron Power Supply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F6F9BE-D016-4C80-BBCB-1DD29DC0745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976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45A46E-D5D4-4C55-9315-79A024B9AE5D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SLAC Klystron Power Supply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F399F2-10AC-42AE-B770-EC55F9BB32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2286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9725D1-6DC7-408C-B961-0821111D2FF8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SLAC Klystron Power Supply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A74A80-B239-43B0-BA1C-EA325647ED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1331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8B4765-29EA-47FA-B542-92A9CCA07C68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SLAC Klystron Power Supply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D62450-B191-4713-A4F4-2D6C84CAEE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1266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762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E6DF5DF-78F7-4C84-9451-CAA3259BB532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SLAC Klystron Power Supply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A0B1BEB-A636-491B-A941-52C93996D2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0608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53FF3FD2-EBE3-466E-AF34-C15BC15C264B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altLang="en-US"/>
              <a:t>SLAC Klystron Power Supply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7CDAC29-25A6-436D-9C62-E4CF44587A6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304800" y="304800"/>
            <a:ext cx="8534400" cy="63246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C4C81-99AB-4948-966C-E3F17CAD5D9E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5867400" cy="533400"/>
          </a:xfrm>
        </p:spPr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Pep II Power supply</a:t>
            </a:r>
            <a:endParaRPr lang="en-US" altLang="en-US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201731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62800" y="5791200"/>
            <a:ext cx="1600200" cy="762000"/>
          </a:xfrm>
        </p:spPr>
      </p:pic>
      <p:pic>
        <p:nvPicPr>
          <p:cNvPr id="201746" name="Picture 1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600200"/>
            <a:ext cx="4487863" cy="3690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1748" name="Picture 20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143000"/>
            <a:ext cx="3071813" cy="4648200"/>
          </a:xfrm>
          <a:noFill/>
          <a:ln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7BFBB-67D8-487C-8BAB-AF09902A7461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Klystron Power Supply Specifications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438400"/>
            <a:ext cx="7772400" cy="3657600"/>
          </a:xfrm>
        </p:spPr>
        <p:txBody>
          <a:bodyPr/>
          <a:lstStyle/>
          <a:p>
            <a:r>
              <a:rPr lang="en-US" altLang="en-US"/>
              <a:t>90kV 27A DC Continues 2.5MW</a:t>
            </a:r>
          </a:p>
          <a:p>
            <a:r>
              <a:rPr lang="en-US" altLang="en-US"/>
              <a:t>Regulation &amp; Ripple &lt; </a:t>
            </a:r>
            <a:r>
              <a:rPr lang="en-US" altLang="en-US">
                <a:cs typeface="Times New Roman" panose="02020603050405020304" pitchFamily="18" charset="0"/>
              </a:rPr>
              <a:t>±</a:t>
            </a:r>
            <a:r>
              <a:rPr lang="en-US" altLang="en-US"/>
              <a:t>0.5% @ &gt;65kV.</a:t>
            </a:r>
          </a:p>
          <a:p>
            <a:r>
              <a:rPr lang="en-US" altLang="en-US"/>
              <a:t>Protect Klystron under Klystron Arc (Important).</a:t>
            </a:r>
          </a:p>
          <a:p>
            <a:r>
              <a:rPr lang="en-US" altLang="en-US"/>
              <a:t>Continues Control of Output Voltage. </a:t>
            </a:r>
          </a:p>
          <a:p>
            <a:r>
              <a:rPr lang="en-US" altLang="en-US"/>
              <a:t>Fit on existing transformer pads.</a:t>
            </a:r>
          </a:p>
          <a:p>
            <a:r>
              <a:rPr lang="en-US" altLang="en-US"/>
              <a:t>Cost effective.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9DA36-FA9A-41F6-8987-1359E9BD18F3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5867400" cy="533400"/>
          </a:xfrm>
        </p:spPr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Pep II Power supply </a:t>
            </a:r>
            <a:endParaRPr lang="en-US" altLang="en-US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205827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62800" y="5791200"/>
            <a:ext cx="1600200" cy="762000"/>
          </a:xfrm>
        </p:spPr>
      </p:pic>
      <p:graphicFrame>
        <p:nvGraphicFramePr>
          <p:cNvPr id="205832" name="Object 8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600200" y="1066800"/>
          <a:ext cx="5105400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ual CADD 2.0 Drawing" r:id="rId4" imgW="2857680" imgH="2857680" progId="VisualCADD.2.Drawing">
                  <p:embed/>
                </p:oleObj>
              </mc:Choice>
              <mc:Fallback>
                <p:oleObj name="Visual CADD 2.0 Drawing" r:id="rId4" imgW="2857680" imgH="2857680" progId="VisualCADD.2.Drawing">
                  <p:embed/>
                  <p:pic>
                    <p:nvPicPr>
                      <p:cNvPr id="2058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066800"/>
                        <a:ext cx="5105400" cy="510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FBB0-CC1F-4EBF-8128-E84FABC6BCB8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5867400" cy="533400"/>
          </a:xfrm>
        </p:spPr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Pep II Power supply</a:t>
            </a:r>
            <a:endParaRPr lang="en-US" altLang="en-US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212995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62800" y="5791200"/>
            <a:ext cx="1600200" cy="762000"/>
          </a:xfrm>
        </p:spPr>
      </p:pic>
      <p:graphicFrame>
        <p:nvGraphicFramePr>
          <p:cNvPr id="213002" name="Object 10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578318584"/>
              </p:ext>
            </p:extLst>
          </p:nvPr>
        </p:nvGraphicFramePr>
        <p:xfrm>
          <a:off x="1327810" y="266700"/>
          <a:ext cx="6172200" cy="617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ual CADD 2.0 Drawing" r:id="rId4" imgW="2857680" imgH="2857680" progId="VisualCADD.2.Drawing">
                  <p:embed/>
                </p:oleObj>
              </mc:Choice>
              <mc:Fallback>
                <p:oleObj name="Visual CADD 2.0 Drawing" r:id="rId4" imgW="2857680" imgH="2857680" progId="VisualCADD.2.Drawing">
                  <p:embed/>
                  <p:pic>
                    <p:nvPicPr>
                      <p:cNvPr id="2130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810" y="266700"/>
                        <a:ext cx="6172200" cy="617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3DD3E-CD5B-4AE3-A197-85F8191312C3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5867400" cy="533400"/>
          </a:xfrm>
        </p:spPr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Pep II Power supply </a:t>
            </a:r>
            <a:endParaRPr lang="en-US" altLang="en-US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222211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62800" y="5791200"/>
            <a:ext cx="1600200" cy="762000"/>
          </a:xfrm>
        </p:spPr>
      </p:pic>
      <p:pic>
        <p:nvPicPr>
          <p:cNvPr id="222215" name="Picture 7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1295400"/>
            <a:ext cx="5664200" cy="4248150"/>
          </a:xfrm>
          <a:noFill/>
          <a:ln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0B1C-157C-4459-9BE3-E39188D7EACD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5867400" cy="533400"/>
          </a:xfrm>
        </p:spPr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Pep II Power supply </a:t>
            </a:r>
            <a:endParaRPr lang="en-US" altLang="en-US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220163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62800" y="5791200"/>
            <a:ext cx="1600200" cy="762000"/>
          </a:xfrm>
        </p:spPr>
      </p:pic>
      <p:pic>
        <p:nvPicPr>
          <p:cNvPr id="220167" name="Picture 7" descr="HR81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371600"/>
            <a:ext cx="6515100" cy="4133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9279-2967-450F-BDAD-47B5810551B9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5867400" cy="533400"/>
          </a:xfrm>
        </p:spPr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Pep II Power supply </a:t>
            </a:r>
            <a:endParaRPr lang="en-US" altLang="en-US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246787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62800" y="5791200"/>
            <a:ext cx="1600200" cy="762000"/>
          </a:xfrm>
        </p:spPr>
      </p:pic>
      <p:pic>
        <p:nvPicPr>
          <p:cNvPr id="246791" name="Picture 7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1371600"/>
            <a:ext cx="6477000" cy="4086225"/>
          </a:xfrm>
          <a:noFill/>
          <a:ln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B958A-789E-40C0-8B26-51D4E1BD65A6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5867400" cy="533400"/>
          </a:xfrm>
        </p:spPr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Pep II Power supply</a:t>
            </a:r>
            <a:endParaRPr lang="en-US" altLang="en-US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208899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62800" y="5791200"/>
            <a:ext cx="1600200" cy="762000"/>
          </a:xfrm>
        </p:spPr>
      </p:pic>
      <p:pic>
        <p:nvPicPr>
          <p:cNvPr id="208904" name="Picture 8" descr="Fig-D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1219200"/>
            <a:ext cx="5867400" cy="4625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86B8-BE97-400C-A0C1-DCB36840D631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7848600" cy="838200"/>
          </a:xfrm>
        </p:spPr>
        <p:txBody>
          <a:bodyPr/>
          <a:lstStyle/>
          <a:p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Power supply waveforms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sz="half" idx="3"/>
          </p:nvPr>
        </p:nvSpPr>
        <p:spPr>
          <a:xfrm>
            <a:off x="838200" y="5029200"/>
            <a:ext cx="3810000" cy="4572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Inductor voltage, Line current (AC)</a:t>
            </a:r>
          </a:p>
        </p:txBody>
      </p:sp>
      <p:pic>
        <p:nvPicPr>
          <p:cNvPr id="245764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15200" y="5791200"/>
            <a:ext cx="1447800" cy="762000"/>
          </a:xfrm>
        </p:spPr>
      </p:pic>
      <p:sp>
        <p:nvSpPr>
          <p:cNvPr id="245765" name="Rectangle 5"/>
          <p:cNvSpPr>
            <a:spLocks noChangeArrowheads="1"/>
          </p:cNvSpPr>
          <p:nvPr/>
        </p:nvSpPr>
        <p:spPr bwMode="auto">
          <a:xfrm>
            <a:off x="4724400" y="5029200"/>
            <a:ext cx="3810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/>
              <a:t>Three Line Voltages (note overlap)</a:t>
            </a:r>
          </a:p>
        </p:txBody>
      </p:sp>
      <p:pic>
        <p:nvPicPr>
          <p:cNvPr id="24576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3657600" cy="3300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70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00200"/>
            <a:ext cx="3733800" cy="318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90404-B4DF-40C6-BC44-F975D45F3652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5867400" cy="533400"/>
          </a:xfrm>
        </p:spPr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Pep II Power supply</a:t>
            </a:r>
            <a:endParaRPr lang="en-US" altLang="en-US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210947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62800" y="5791200"/>
            <a:ext cx="1600200" cy="762000"/>
          </a:xfrm>
        </p:spPr>
      </p:pic>
      <p:pic>
        <p:nvPicPr>
          <p:cNvPr id="210952" name="Picture 8" descr="fig-A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0" y="1143000"/>
            <a:ext cx="5943600" cy="46450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C60F9-E9A0-4E94-B5FA-11FE3BFD834F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7848600" cy="838200"/>
          </a:xfrm>
        </p:spPr>
        <p:txBody>
          <a:bodyPr/>
          <a:lstStyle/>
          <a:p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Transformer Phase Voltages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sz="half" idx="3"/>
          </p:nvPr>
        </p:nvSpPr>
        <p:spPr>
          <a:xfrm>
            <a:off x="838200" y="5029200"/>
            <a:ext cx="3810000" cy="457200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000"/>
              <a:t>Three Core Voltages “Lower”</a:t>
            </a:r>
          </a:p>
        </p:txBody>
      </p:sp>
      <p:pic>
        <p:nvPicPr>
          <p:cNvPr id="244740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15200" y="5791200"/>
            <a:ext cx="1447800" cy="762000"/>
          </a:xfrm>
        </p:spPr>
      </p:pic>
      <p:sp>
        <p:nvSpPr>
          <p:cNvPr id="244742" name="Rectangle 6"/>
          <p:cNvSpPr>
            <a:spLocks noChangeArrowheads="1"/>
          </p:cNvSpPr>
          <p:nvPr/>
        </p:nvSpPr>
        <p:spPr bwMode="auto">
          <a:xfrm>
            <a:off x="4724400" y="5029200"/>
            <a:ext cx="3810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/>
              <a:t>Three Core Voltages  “Upper”</a:t>
            </a:r>
          </a:p>
        </p:txBody>
      </p:sp>
      <p:pic>
        <p:nvPicPr>
          <p:cNvPr id="24474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524000"/>
            <a:ext cx="3581400" cy="323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4746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47800"/>
            <a:ext cx="3886200" cy="3303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285A3-C37C-49F6-9502-FE6FBE380AB5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5867400" cy="533400"/>
          </a:xfrm>
        </p:spPr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Pep II Power supply</a:t>
            </a:r>
            <a:endParaRPr lang="en-US" altLang="en-US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215043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62800" y="5791200"/>
            <a:ext cx="1600200" cy="762000"/>
          </a:xfrm>
        </p:spPr>
      </p:pic>
      <p:sp>
        <p:nvSpPr>
          <p:cNvPr id="215044" name="Rectangle 4"/>
          <p:cNvSpPr>
            <a:spLocks noGrp="1" noChangeArrowheads="1"/>
          </p:cNvSpPr>
          <p:nvPr>
            <p:ph type="body" sz="half" idx="3"/>
          </p:nvPr>
        </p:nvSpPr>
        <p:spPr>
          <a:xfrm>
            <a:off x="3657600" y="5410200"/>
            <a:ext cx="1905000" cy="381000"/>
          </a:xfrm>
        </p:spPr>
        <p:txBody>
          <a:bodyPr/>
          <a:lstStyle/>
          <a:p>
            <a:r>
              <a:rPr lang="en-US" altLang="en-US" sz="1600"/>
              <a:t>AC CURRENT</a:t>
            </a:r>
          </a:p>
        </p:txBody>
      </p:sp>
      <p:pic>
        <p:nvPicPr>
          <p:cNvPr id="215047" name="Picture 7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0" y="1295400"/>
            <a:ext cx="4038600" cy="3789363"/>
          </a:xfrm>
          <a:noFill/>
          <a:ln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4618A-4497-40BA-840C-643D9404D01A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5867400" cy="533400"/>
          </a:xfrm>
        </p:spPr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Pep II Power supply</a:t>
            </a:r>
            <a:endParaRPr lang="en-US" altLang="en-US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217091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62800" y="5791200"/>
            <a:ext cx="1600200" cy="762000"/>
          </a:xfrm>
        </p:spPr>
      </p:pic>
      <p:pic>
        <p:nvPicPr>
          <p:cNvPr id="217105" name="Picture 17" descr="fig-C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1111250"/>
            <a:ext cx="4343400" cy="4238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4474-FE4F-4EC5-8598-1F33B22D8CAE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5867400" cy="533400"/>
          </a:xfrm>
        </p:spPr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Pep II Power supply</a:t>
            </a:r>
            <a:endParaRPr lang="en-US" altLang="en-US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203779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62800" y="5791200"/>
            <a:ext cx="1600200" cy="762000"/>
          </a:xfrm>
        </p:spPr>
      </p:pic>
      <p:pic>
        <p:nvPicPr>
          <p:cNvPr id="203788" name="Picture 12" descr="fig-b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1295400"/>
            <a:ext cx="4930775" cy="4676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A632C-3411-4773-807C-F25A21C96E07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5867400" cy="533400"/>
          </a:xfrm>
        </p:spPr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Pep II Power supply </a:t>
            </a:r>
            <a:endParaRPr lang="en-US" altLang="en-US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224259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62800" y="5791200"/>
            <a:ext cx="1600200" cy="762000"/>
          </a:xfrm>
        </p:spPr>
      </p:pic>
      <p:sp>
        <p:nvSpPr>
          <p:cNvPr id="224260" name="Rectangle 4"/>
          <p:cNvSpPr>
            <a:spLocks noGrp="1" noChangeArrowheads="1"/>
          </p:cNvSpPr>
          <p:nvPr>
            <p:ph type="body" sz="half" idx="3"/>
          </p:nvPr>
        </p:nvSpPr>
        <p:spPr>
          <a:xfrm>
            <a:off x="2438400" y="5486400"/>
            <a:ext cx="2667000" cy="6096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1600"/>
              <a:t>Light Triggered delay ~1 </a:t>
            </a:r>
            <a:r>
              <a:rPr lang="en-US" altLang="en-US" sz="1600" err="1"/>
              <a:t>usec</a:t>
            </a:r>
            <a:endParaRPr lang="en-US" altLang="en-US" sz="16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/>
              <a:t>Independent of Voltage 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sz="1600"/>
          </a:p>
        </p:txBody>
      </p:sp>
      <p:pic>
        <p:nvPicPr>
          <p:cNvPr id="224263" name="Picture 7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1295400"/>
            <a:ext cx="4495800" cy="4013200"/>
          </a:xfrm>
          <a:noFill/>
          <a:ln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42ACC-04CE-4688-85CF-7DCA9BC02C80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7848600" cy="990600"/>
          </a:xfrm>
        </p:spPr>
        <p:txBody>
          <a:bodyPr/>
          <a:lstStyle/>
          <a:p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Present SCR Crowbar Delay</a:t>
            </a:r>
            <a:b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altLang="en-US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28356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91400" y="5943600"/>
            <a:ext cx="1447800" cy="762000"/>
          </a:xfrm>
        </p:spPr>
      </p:pic>
      <p:pic>
        <p:nvPicPr>
          <p:cNvPr id="22835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752600"/>
            <a:ext cx="4191000" cy="3278188"/>
          </a:xfrm>
          <a:noFill/>
          <a:ln/>
        </p:spPr>
      </p:pic>
      <p:pic>
        <p:nvPicPr>
          <p:cNvPr id="22835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52600"/>
            <a:ext cx="4191000" cy="3275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8359" name="Rectangle 7"/>
          <p:cNvSpPr>
            <a:spLocks noChangeArrowheads="1"/>
          </p:cNvSpPr>
          <p:nvPr/>
        </p:nvSpPr>
        <p:spPr bwMode="auto">
          <a:xfrm>
            <a:off x="5486400" y="5105400"/>
            <a:ext cx="3657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/>
              <a:t>Present Crowbar Trigger</a:t>
            </a:r>
          </a:p>
          <a:p>
            <a:r>
              <a:rPr lang="en-US" altLang="en-US" sz="2000"/>
              <a:t>Normal and reversed driver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C2B18-D8B0-4327-AAD6-763896B9AB90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7848600" cy="838200"/>
          </a:xfrm>
        </p:spPr>
        <p:txBody>
          <a:bodyPr/>
          <a:lstStyle/>
          <a:p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SCR Crowbar Trigger Delay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sz="half" idx="3"/>
          </p:nvPr>
        </p:nvSpPr>
        <p:spPr>
          <a:xfrm>
            <a:off x="685800" y="5257800"/>
            <a:ext cx="3810000" cy="457200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000"/>
              <a:t>Normal SCR Triggered Crowbar</a:t>
            </a:r>
          </a:p>
        </p:txBody>
      </p:sp>
      <p:pic>
        <p:nvPicPr>
          <p:cNvPr id="229380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15200" y="5791200"/>
            <a:ext cx="1447800" cy="762000"/>
          </a:xfrm>
        </p:spPr>
      </p:pic>
      <p:pic>
        <p:nvPicPr>
          <p:cNvPr id="229381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371600"/>
            <a:ext cx="4114800" cy="3522663"/>
          </a:xfrm>
          <a:noFill/>
          <a:ln/>
        </p:spPr>
      </p:pic>
      <p:sp>
        <p:nvSpPr>
          <p:cNvPr id="229383" name="Rectangle 7"/>
          <p:cNvSpPr>
            <a:spLocks noChangeArrowheads="1"/>
          </p:cNvSpPr>
          <p:nvPr/>
        </p:nvSpPr>
        <p:spPr bwMode="auto">
          <a:xfrm>
            <a:off x="4724400" y="5181600"/>
            <a:ext cx="3810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/>
              <a:t>Light Triggered SCR Crowbar</a:t>
            </a:r>
          </a:p>
        </p:txBody>
      </p:sp>
      <p:pic>
        <p:nvPicPr>
          <p:cNvPr id="229393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71600"/>
            <a:ext cx="4097338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C794-C5DF-4436-8782-C7B846B06FAE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7848600" cy="838200"/>
          </a:xfrm>
        </p:spPr>
        <p:txBody>
          <a:bodyPr/>
          <a:lstStyle/>
          <a:p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Control wiring</a:t>
            </a:r>
          </a:p>
        </p:txBody>
      </p:sp>
      <p:pic>
        <p:nvPicPr>
          <p:cNvPr id="234500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15200" y="5791200"/>
            <a:ext cx="1447800" cy="762000"/>
          </a:xfrm>
        </p:spPr>
      </p:pic>
      <p:sp>
        <p:nvSpPr>
          <p:cNvPr id="234502" name="Rectangle 6"/>
          <p:cNvSpPr>
            <a:spLocks noChangeArrowheads="1"/>
          </p:cNvSpPr>
          <p:nvPr/>
        </p:nvSpPr>
        <p:spPr bwMode="auto">
          <a:xfrm>
            <a:off x="8153400" y="54864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2000"/>
          </a:p>
        </p:txBody>
      </p:sp>
      <p:pic>
        <p:nvPicPr>
          <p:cNvPr id="234505" name="Picture 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066800"/>
            <a:ext cx="7620000" cy="4762500"/>
          </a:xfrm>
          <a:noFill/>
          <a:ln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37007-08C2-4AFE-89A8-33328AF01C45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7848600" cy="838200"/>
          </a:xfrm>
        </p:spPr>
        <p:txBody>
          <a:bodyPr/>
          <a:lstStyle/>
          <a:p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Control wiring</a:t>
            </a:r>
          </a:p>
        </p:txBody>
      </p:sp>
      <p:pic>
        <p:nvPicPr>
          <p:cNvPr id="235524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15200" y="5791200"/>
            <a:ext cx="1447800" cy="762000"/>
          </a:xfrm>
        </p:spPr>
      </p:pic>
      <p:sp>
        <p:nvSpPr>
          <p:cNvPr id="235525" name="Rectangle 5"/>
          <p:cNvSpPr>
            <a:spLocks noChangeArrowheads="1"/>
          </p:cNvSpPr>
          <p:nvPr/>
        </p:nvSpPr>
        <p:spPr bwMode="auto">
          <a:xfrm>
            <a:off x="8153400" y="54864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2000"/>
          </a:p>
        </p:txBody>
      </p:sp>
      <p:pic>
        <p:nvPicPr>
          <p:cNvPr id="235530" name="Picture 10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238250"/>
            <a:ext cx="6553200" cy="4914900"/>
          </a:xfrm>
          <a:noFill/>
          <a:ln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55C9-48EA-44AC-BB42-A930FAB67FF7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7848600" cy="838200"/>
          </a:xfrm>
        </p:spPr>
        <p:txBody>
          <a:bodyPr/>
          <a:lstStyle/>
          <a:p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Control wiring</a:t>
            </a:r>
          </a:p>
        </p:txBody>
      </p:sp>
      <p:pic>
        <p:nvPicPr>
          <p:cNvPr id="236548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15200" y="5791200"/>
            <a:ext cx="1447800" cy="762000"/>
          </a:xfrm>
        </p:spPr>
      </p:pic>
      <p:sp>
        <p:nvSpPr>
          <p:cNvPr id="236549" name="Rectangle 5"/>
          <p:cNvSpPr>
            <a:spLocks noChangeArrowheads="1"/>
          </p:cNvSpPr>
          <p:nvPr/>
        </p:nvSpPr>
        <p:spPr bwMode="auto">
          <a:xfrm>
            <a:off x="8153400" y="54864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2000"/>
          </a:p>
        </p:txBody>
      </p:sp>
      <p:pic>
        <p:nvPicPr>
          <p:cNvPr id="236552" name="Picture 8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143000"/>
            <a:ext cx="6477000" cy="5111750"/>
          </a:xfrm>
          <a:noFill/>
          <a:ln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D568F-B972-4F67-85AF-04AD77F18632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7848600" cy="838200"/>
          </a:xfrm>
        </p:spPr>
        <p:txBody>
          <a:bodyPr/>
          <a:lstStyle/>
          <a:p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Control wiring</a:t>
            </a:r>
          </a:p>
        </p:txBody>
      </p:sp>
      <p:pic>
        <p:nvPicPr>
          <p:cNvPr id="240644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15200" y="5791200"/>
            <a:ext cx="1447800" cy="762000"/>
          </a:xfrm>
        </p:spPr>
      </p:pic>
      <p:sp>
        <p:nvSpPr>
          <p:cNvPr id="240645" name="Rectangle 5"/>
          <p:cNvSpPr>
            <a:spLocks noChangeArrowheads="1"/>
          </p:cNvSpPr>
          <p:nvPr/>
        </p:nvSpPr>
        <p:spPr bwMode="auto">
          <a:xfrm>
            <a:off x="8153400" y="54864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2000"/>
          </a:p>
        </p:txBody>
      </p:sp>
      <p:pic>
        <p:nvPicPr>
          <p:cNvPr id="240650" name="Picture 10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7800" y="993775"/>
            <a:ext cx="5257800" cy="5192713"/>
          </a:xfrm>
          <a:noFill/>
          <a:ln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4768-FE20-41BD-ABA5-598D55BAC4E8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7848600" cy="838200"/>
          </a:xfrm>
        </p:spPr>
        <p:txBody>
          <a:bodyPr/>
          <a:lstStyle/>
          <a:p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Control wiring</a:t>
            </a:r>
          </a:p>
        </p:txBody>
      </p:sp>
      <p:pic>
        <p:nvPicPr>
          <p:cNvPr id="241668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15200" y="5791200"/>
            <a:ext cx="1447800" cy="762000"/>
          </a:xfrm>
        </p:spPr>
      </p:pic>
      <p:sp>
        <p:nvSpPr>
          <p:cNvPr id="241669" name="Rectangle 5"/>
          <p:cNvSpPr>
            <a:spLocks noChangeArrowheads="1"/>
          </p:cNvSpPr>
          <p:nvPr/>
        </p:nvSpPr>
        <p:spPr bwMode="auto">
          <a:xfrm>
            <a:off x="8153400" y="54864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2000"/>
          </a:p>
        </p:txBody>
      </p:sp>
      <p:pic>
        <p:nvPicPr>
          <p:cNvPr id="241672" name="Picture 8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2600" y="1219200"/>
            <a:ext cx="5105400" cy="4941888"/>
          </a:xfrm>
          <a:noFill/>
          <a:ln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53C4F-B573-4355-ADE8-B26D7B211FAE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7848600" cy="838200"/>
          </a:xfrm>
        </p:spPr>
        <p:txBody>
          <a:bodyPr/>
          <a:lstStyle/>
          <a:p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Control wiring</a:t>
            </a:r>
          </a:p>
        </p:txBody>
      </p:sp>
      <p:pic>
        <p:nvPicPr>
          <p:cNvPr id="242692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15200" y="5791200"/>
            <a:ext cx="1447800" cy="762000"/>
          </a:xfrm>
        </p:spPr>
      </p:pic>
      <p:sp>
        <p:nvSpPr>
          <p:cNvPr id="242693" name="Rectangle 5"/>
          <p:cNvSpPr>
            <a:spLocks noChangeArrowheads="1"/>
          </p:cNvSpPr>
          <p:nvPr/>
        </p:nvSpPr>
        <p:spPr bwMode="auto">
          <a:xfrm>
            <a:off x="8153400" y="54864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2000"/>
          </a:p>
        </p:txBody>
      </p:sp>
      <p:pic>
        <p:nvPicPr>
          <p:cNvPr id="242696" name="Picture 8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1143000"/>
            <a:ext cx="4525963" cy="4648200"/>
          </a:xfrm>
          <a:noFill/>
          <a:ln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5186-04E8-4985-8F89-3D0E4855441B}" type="datetime1">
              <a:rPr lang="en-US" altLang="en-US"/>
              <a:pPr/>
              <a:t>4/7/2026</a:t>
            </a:fld>
            <a:endParaRPr lang="en-US" altLang="en-US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SLAC Klystron Power Supply</a:t>
            </a:r>
          </a:p>
        </p:txBody>
      </p:sp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7848600" cy="838200"/>
          </a:xfrm>
        </p:spPr>
        <p:txBody>
          <a:bodyPr/>
          <a:lstStyle/>
          <a:p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Control wiring</a:t>
            </a:r>
          </a:p>
        </p:txBody>
      </p:sp>
      <p:pic>
        <p:nvPicPr>
          <p:cNvPr id="243716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15200" y="5791200"/>
            <a:ext cx="1447800" cy="762000"/>
          </a:xfrm>
        </p:spPr>
      </p:pic>
      <p:sp>
        <p:nvSpPr>
          <p:cNvPr id="243717" name="Rectangle 5"/>
          <p:cNvSpPr>
            <a:spLocks noChangeArrowheads="1"/>
          </p:cNvSpPr>
          <p:nvPr/>
        </p:nvSpPr>
        <p:spPr bwMode="auto">
          <a:xfrm>
            <a:off x="8153400" y="54864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2000"/>
          </a:p>
        </p:txBody>
      </p:sp>
      <p:pic>
        <p:nvPicPr>
          <p:cNvPr id="243720" name="Picture 8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38400" y="990600"/>
            <a:ext cx="4284663" cy="5181600"/>
          </a:xfrm>
          <a:noFill/>
          <a:ln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">
      <a:dk1>
        <a:srgbClr val="3333FF"/>
      </a:dk1>
      <a:lt1>
        <a:srgbClr val="CCFFFF"/>
      </a:lt1>
      <a:dk2>
        <a:srgbClr val="FF0066"/>
      </a:dk2>
      <a:lt2>
        <a:srgbClr val="808080"/>
      </a:lt2>
      <a:accent1>
        <a:srgbClr val="00CC99"/>
      </a:accent1>
      <a:accent2>
        <a:srgbClr val="3333CC"/>
      </a:accent2>
      <a:accent3>
        <a:srgbClr val="E2FFFF"/>
      </a:accent3>
      <a:accent4>
        <a:srgbClr val="2A2ADA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2E8B9B8F494F4F9FA5AC6115F8BAFC" ma:contentTypeVersion="14" ma:contentTypeDescription="Create a new document." ma:contentTypeScope="" ma:versionID="3d2c6979e8007f0c673cdef31668f95a">
  <xsd:schema xmlns:xsd="http://www.w3.org/2001/XMLSchema" xmlns:xs="http://www.w3.org/2001/XMLSchema" xmlns:p="http://schemas.microsoft.com/office/2006/metadata/properties" xmlns:ns2="41b3182d-22ee-41df-9219-a7264fbbfb0e" xmlns:ns3="2ae7472c-b71f-4cab-b94a-416f482a757b" targetNamespace="http://schemas.microsoft.com/office/2006/metadata/properties" ma:root="true" ma:fieldsID="f3c0934017ae9f5ce032209485dc8b02" ns2:_="" ns3:_="">
    <xsd:import namespace="41b3182d-22ee-41df-9219-a7264fbbfb0e"/>
    <xsd:import namespace="2ae7472c-b71f-4cab-b94a-416f482a75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b3182d-22ee-41df-9219-a7264fbbfb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d420da9-6cce-460f-935b-b5e0b28d9e7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e7472c-b71f-4cab-b94a-416f482a757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550a66c-5f6a-49ac-92d8-0dc107bde606}" ma:internalName="TaxCatchAll" ma:showField="CatchAllData" ma:web="2ae7472c-b71f-4cab-b94a-416f482a75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ae7472c-b71f-4cab-b94a-416f482a757b" xsi:nil="true"/>
    <lcf76f155ced4ddcb4097134ff3c332f xmlns="41b3182d-22ee-41df-9219-a7264fbbfb0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487A70-8453-4D65-9995-21113B54F52C}">
  <ds:schemaRefs>
    <ds:schemaRef ds:uri="2ae7472c-b71f-4cab-b94a-416f482a757b"/>
    <ds:schemaRef ds:uri="41b3182d-22ee-41df-9219-a7264fbbfb0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5B4DE0A-17D0-4437-9236-83AAAC1D6045}">
  <ds:schemaRefs>
    <ds:schemaRef ds:uri="2ae7472c-b71f-4cab-b94a-416f482a757b"/>
    <ds:schemaRef ds:uri="41b3182d-22ee-41df-9219-a7264fbbfb0e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554799B-7C9E-49B2-8741-E8F141C03E1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1</TotalTime>
  <Words>351</Words>
  <Application>Microsoft Office PowerPoint</Application>
  <PresentationFormat>On-screen Show (4:3)</PresentationFormat>
  <Paragraphs>113</Paragraphs>
  <Slides>24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Times New Roman</vt:lpstr>
      <vt:lpstr>Blank Presentation</vt:lpstr>
      <vt:lpstr>Visual CADD 2.0 Drawing</vt:lpstr>
      <vt:lpstr>Pep II Power supply</vt:lpstr>
      <vt:lpstr>Klystron Power Supply Specifications</vt:lpstr>
      <vt:lpstr>Pep II Power supply </vt:lpstr>
      <vt:lpstr>Pep II Power supply</vt:lpstr>
      <vt:lpstr>Pep II Power supply </vt:lpstr>
      <vt:lpstr>Pep II Power supply </vt:lpstr>
      <vt:lpstr>Pep II Power supply </vt:lpstr>
      <vt:lpstr>Pep II Power supply</vt:lpstr>
      <vt:lpstr> Power supply waveforms</vt:lpstr>
      <vt:lpstr>Pep II Power supply</vt:lpstr>
      <vt:lpstr> Transformer Phase Voltages</vt:lpstr>
      <vt:lpstr>Pep II Power supply</vt:lpstr>
      <vt:lpstr>Pep II Power supply</vt:lpstr>
      <vt:lpstr>Pep II Power supply</vt:lpstr>
      <vt:lpstr>Pep II Power supply </vt:lpstr>
      <vt:lpstr>Present SCR Crowbar Delay </vt:lpstr>
      <vt:lpstr> SCR Crowbar Trigger Delay</vt:lpstr>
      <vt:lpstr> Control wiring</vt:lpstr>
      <vt:lpstr> Control wiring</vt:lpstr>
      <vt:lpstr> Control wiring</vt:lpstr>
      <vt:lpstr> Control wiring</vt:lpstr>
      <vt:lpstr> Control wiring</vt:lpstr>
      <vt:lpstr> Control wiring</vt:lpstr>
      <vt:lpstr> Control wiring</vt:lpstr>
    </vt:vector>
  </TitlesOfParts>
  <Company>slac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Larsen</dc:creator>
  <cp:lastModifiedBy>Wang, Faya</cp:lastModifiedBy>
  <cp:revision>1</cp:revision>
  <cp:lastPrinted>2000-04-10T19:22:51Z</cp:lastPrinted>
  <dcterms:created xsi:type="dcterms:W3CDTF">1998-10-14T22:19:38Z</dcterms:created>
  <dcterms:modified xsi:type="dcterms:W3CDTF">2026-04-07T19:23:09Z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0x010100162E8B9B8F494F4F9FA5AC6115F8BAFC</vt:lpwstr>
  </property>
  <property fmtid="{D5CDD505-2E9C-101B-9397-08002B2CF9AE}" pid="3" name="MediaServiceImageTags">
    <vt:lpwstr/>
  </property>
</Properties>
</file>